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Firs Neue Bold" charset="1" panose="02000803030000020004"/>
      <p:regular r:id="rId19"/>
    </p:embeddedFont>
    <p:embeddedFont>
      <p:font typeface="TT Firs Neue" charset="1" panose="02000503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24554" y="1008071"/>
            <a:ext cx="418610" cy="41861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91511" y="1008071"/>
            <a:ext cx="418610" cy="41861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58469" y="1008071"/>
            <a:ext cx="418610" cy="41861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8464181"/>
            <a:ext cx="3854945" cy="794119"/>
          </a:xfrm>
          <a:custGeom>
            <a:avLst/>
            <a:gdLst/>
            <a:ahLst/>
            <a:cxnLst/>
            <a:rect r="r" b="b" t="t" l="l"/>
            <a:pathLst>
              <a:path h="794119" w="3854945">
                <a:moveTo>
                  <a:pt x="0" y="0"/>
                </a:moveTo>
                <a:lnTo>
                  <a:pt x="3854945" y="0"/>
                </a:lnTo>
                <a:lnTo>
                  <a:pt x="3854945" y="794119"/>
                </a:lnTo>
                <a:lnTo>
                  <a:pt x="0" y="7941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83526" y="7629684"/>
            <a:ext cx="1667525" cy="1575764"/>
          </a:xfrm>
          <a:custGeom>
            <a:avLst/>
            <a:gdLst/>
            <a:ahLst/>
            <a:cxnLst/>
            <a:rect r="r" b="b" t="t" l="l"/>
            <a:pathLst>
              <a:path h="1575764" w="1667525">
                <a:moveTo>
                  <a:pt x="0" y="0"/>
                </a:moveTo>
                <a:lnTo>
                  <a:pt x="1667525" y="0"/>
                </a:lnTo>
                <a:lnTo>
                  <a:pt x="1667525" y="1575764"/>
                </a:lnTo>
                <a:lnTo>
                  <a:pt x="0" y="15757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8593" y="3616132"/>
            <a:ext cx="12451754" cy="75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83"/>
              </a:lnSpc>
              <a:spcBef>
                <a:spcPct val="0"/>
              </a:spcBef>
            </a:pPr>
            <a:r>
              <a:rPr lang="en-US" b="true" sz="545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B2B AUTOMOBILE PARTS SALES &amp;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999" y="4223887"/>
            <a:ext cx="14519527" cy="241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09"/>
              </a:lnSpc>
            </a:pPr>
            <a:r>
              <a:rPr lang="en-US" b="true" sz="8877">
                <a:solidFill>
                  <a:srgbClr val="FFDE59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CUSTOMER ANALYTICS 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502" y="6709228"/>
            <a:ext cx="15876996" cy="32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9"/>
              </a:lnSpc>
              <a:spcBef>
                <a:spcPct val="0"/>
              </a:spcBef>
            </a:pPr>
            <a:r>
              <a:rPr lang="en-US" sz="233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COMPREHENSIVE DATA-DRIVEN INSIGHTS FOR SALES PERFORMANCE AND CUSTOMER BEHAVIOR ANALYSIS.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45999" y="8753860"/>
            <a:ext cx="943570" cy="29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9"/>
              </a:lnSpc>
            </a:pPr>
            <a:r>
              <a:rPr lang="en-US" b="true" sz="1892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2024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35588" y="1017596"/>
            <a:ext cx="3465293" cy="47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41"/>
              </a:lnSpc>
            </a:pPr>
            <a:r>
              <a:rPr lang="en-US" b="true" sz="173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ANALYTICS</a:t>
            </a:r>
          </a:p>
          <a:p>
            <a:pPr algn="just" marL="0" indent="0" lvl="0">
              <a:lnSpc>
                <a:spcPts val="1841"/>
              </a:lnSpc>
            </a:pPr>
            <a:r>
              <a:rPr lang="en-US" b="true" sz="1737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62200"/>
            <a:ext cx="7883963" cy="6896100"/>
            <a:chOff x="0" y="0"/>
            <a:chExt cx="2076435" cy="1816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1816257"/>
            </a:xfrm>
            <a:custGeom>
              <a:avLst/>
              <a:gdLst/>
              <a:ahLst/>
              <a:cxnLst/>
              <a:rect r="r" b="b" t="t" l="l"/>
              <a:pathLst>
                <a:path h="181625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1796617"/>
                  </a:lnTo>
                  <a:cubicBezTo>
                    <a:pt x="2076435" y="1801826"/>
                    <a:pt x="2074365" y="1806821"/>
                    <a:pt x="2070682" y="1810504"/>
                  </a:cubicBezTo>
                  <a:cubicBezTo>
                    <a:pt x="2066999" y="1814188"/>
                    <a:pt x="2062004" y="1816257"/>
                    <a:pt x="2056795" y="1816257"/>
                  </a:cubicBezTo>
                  <a:lnTo>
                    <a:pt x="19640" y="1816257"/>
                  </a:lnTo>
                  <a:cubicBezTo>
                    <a:pt x="14431" y="1816257"/>
                    <a:pt x="9435" y="1814188"/>
                    <a:pt x="5752" y="1810504"/>
                  </a:cubicBezTo>
                  <a:cubicBezTo>
                    <a:pt x="2069" y="1806821"/>
                    <a:pt x="0" y="1801826"/>
                    <a:pt x="0" y="179661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178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980618" y="3410675"/>
            <a:ext cx="5080055" cy="4930259"/>
          </a:xfrm>
          <a:custGeom>
            <a:avLst/>
            <a:gdLst/>
            <a:ahLst/>
            <a:cxnLst/>
            <a:rect r="r" b="b" t="t" l="l"/>
            <a:pathLst>
              <a:path h="4930259" w="5080055">
                <a:moveTo>
                  <a:pt x="0" y="0"/>
                </a:moveTo>
                <a:lnTo>
                  <a:pt x="5080055" y="0"/>
                </a:lnTo>
                <a:lnTo>
                  <a:pt x="5080055" y="4930259"/>
                </a:lnTo>
                <a:lnTo>
                  <a:pt x="0" y="4930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3062232"/>
            <a:ext cx="6254706" cy="152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1"/>
              </a:lnSpc>
              <a:spcBef>
                <a:spcPct val="0"/>
              </a:spcBef>
            </a:pPr>
            <a:r>
              <a:rPr lang="en-US" b="true" sz="5596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4930208"/>
            <a:ext cx="6586488" cy="403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6"/>
              </a:lnSpc>
            </a:pPr>
            <a:r>
              <a:rPr lang="en-US" sz="278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ANALYZE B2B AUTOMOBILE PARTS SALES DATA TO UNCOVER REVENUE TRENDS AND GROWTH OPPORTUNITIES.</a:t>
            </a:r>
          </a:p>
          <a:p>
            <a:pPr algn="l" marL="0" indent="0" lvl="0">
              <a:lnSpc>
                <a:spcPts val="2956"/>
              </a:lnSpc>
            </a:pPr>
            <a:r>
              <a:rPr lang="en-US" sz="278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DEVELOP INTERACTIVE POWER BI DASHBOARDS FOR SALES, CUSTOMER BEHAVIOR, AND EMPLOYEE PERFORMANCE INSIGHTS.</a:t>
            </a:r>
          </a:p>
          <a:p>
            <a:pPr algn="l" marL="0" indent="0" lvl="0">
              <a:lnSpc>
                <a:spcPts val="2956"/>
              </a:lnSpc>
            </a:pPr>
            <a:r>
              <a:rPr lang="en-US" sz="278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EMPOWER STAKEHOLDERS WITH DATA-DRIVEN DECISION-MAKING TOOLS FOR STRATEGIC PLANNING.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35588" y="1027121"/>
            <a:ext cx="3465293" cy="6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ANALYTICS</a:t>
            </a:r>
          </a:p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DASHBOARD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359091" y="9533187"/>
            <a:ext cx="418610" cy="4186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26049" y="9533187"/>
            <a:ext cx="418610" cy="41861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93006" y="9533187"/>
            <a:ext cx="418610" cy="4186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62200"/>
            <a:ext cx="7883963" cy="6896100"/>
            <a:chOff x="0" y="0"/>
            <a:chExt cx="2076435" cy="1816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1816257"/>
            </a:xfrm>
            <a:custGeom>
              <a:avLst/>
              <a:gdLst/>
              <a:ahLst/>
              <a:cxnLst/>
              <a:rect r="r" b="b" t="t" l="l"/>
              <a:pathLst>
                <a:path h="181625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1796617"/>
                  </a:lnTo>
                  <a:cubicBezTo>
                    <a:pt x="2076435" y="1801826"/>
                    <a:pt x="2074365" y="1806821"/>
                    <a:pt x="2070682" y="1810504"/>
                  </a:cubicBezTo>
                  <a:cubicBezTo>
                    <a:pt x="2066999" y="1814188"/>
                    <a:pt x="2062004" y="1816257"/>
                    <a:pt x="2056795" y="1816257"/>
                  </a:cubicBezTo>
                  <a:lnTo>
                    <a:pt x="19640" y="1816257"/>
                  </a:lnTo>
                  <a:cubicBezTo>
                    <a:pt x="14431" y="1816257"/>
                    <a:pt x="9435" y="1814188"/>
                    <a:pt x="5752" y="1810504"/>
                  </a:cubicBezTo>
                  <a:cubicBezTo>
                    <a:pt x="2069" y="1806821"/>
                    <a:pt x="0" y="1801826"/>
                    <a:pt x="0" y="179661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178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59760" y="2047471"/>
            <a:ext cx="6721833" cy="6055205"/>
          </a:xfrm>
          <a:custGeom>
            <a:avLst/>
            <a:gdLst/>
            <a:ahLst/>
            <a:cxnLst/>
            <a:rect r="r" b="b" t="t" l="l"/>
            <a:pathLst>
              <a:path h="6055205" w="6721833">
                <a:moveTo>
                  <a:pt x="0" y="0"/>
                </a:moveTo>
                <a:lnTo>
                  <a:pt x="6721834" y="0"/>
                </a:lnTo>
                <a:lnTo>
                  <a:pt x="6721834" y="6055205"/>
                </a:lnTo>
                <a:lnTo>
                  <a:pt x="0" y="605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3062232"/>
            <a:ext cx="6254706" cy="152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1"/>
              </a:lnSpc>
              <a:spcBef>
                <a:spcPct val="0"/>
              </a:spcBef>
            </a:pPr>
            <a:r>
              <a:rPr lang="en-US" b="true" sz="5596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4939733"/>
            <a:ext cx="6586488" cy="400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9"/>
              </a:lnSpc>
            </a:pPr>
            <a:r>
              <a:rPr lang="en-US" sz="331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DATA SILOS ACROSS DEPARTMENTS LIMITING CROSS-FUNCTIONAL ANALYSIS.</a:t>
            </a:r>
          </a:p>
          <a:p>
            <a:pPr algn="l" marL="0" indent="0" lvl="0">
              <a:lnSpc>
                <a:spcPts val="3509"/>
              </a:lnSpc>
            </a:pPr>
            <a:r>
              <a:rPr lang="en-US" sz="331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LACK OF REAL-TIME VISIBILITY INTO SALES PERFORMANCE AND CUSTOMER BEHAVIOR.</a:t>
            </a:r>
          </a:p>
          <a:p>
            <a:pPr algn="l" marL="0" indent="0" lvl="0">
              <a:lnSpc>
                <a:spcPts val="3509"/>
              </a:lnSpc>
            </a:pPr>
            <a:r>
              <a:rPr lang="en-US" sz="331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MANUAL REPORTING PROCESSES CAUSING DELAYS AND INEFFICIENCIES.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35588" y="1027121"/>
            <a:ext cx="3465293" cy="6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B2B AUTO PARTS</a:t>
            </a:r>
          </a:p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ANALYTICS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359091" y="9533187"/>
            <a:ext cx="418610" cy="4186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26049" y="9533187"/>
            <a:ext cx="418610" cy="41861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93006" y="9533187"/>
            <a:ext cx="418610" cy="4186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62200"/>
            <a:ext cx="7883963" cy="6896100"/>
            <a:chOff x="0" y="0"/>
            <a:chExt cx="2076435" cy="1816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1816257"/>
            </a:xfrm>
            <a:custGeom>
              <a:avLst/>
              <a:gdLst/>
              <a:ahLst/>
              <a:cxnLst/>
              <a:rect r="r" b="b" t="t" l="l"/>
              <a:pathLst>
                <a:path h="181625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1796617"/>
                  </a:lnTo>
                  <a:cubicBezTo>
                    <a:pt x="2076435" y="1801826"/>
                    <a:pt x="2074365" y="1806821"/>
                    <a:pt x="2070682" y="1810504"/>
                  </a:cubicBezTo>
                  <a:cubicBezTo>
                    <a:pt x="2066999" y="1814188"/>
                    <a:pt x="2062004" y="1816257"/>
                    <a:pt x="2056795" y="1816257"/>
                  </a:cubicBezTo>
                  <a:lnTo>
                    <a:pt x="19640" y="1816257"/>
                  </a:lnTo>
                  <a:cubicBezTo>
                    <a:pt x="14431" y="1816257"/>
                    <a:pt x="9435" y="1814188"/>
                    <a:pt x="5752" y="1810504"/>
                  </a:cubicBezTo>
                  <a:cubicBezTo>
                    <a:pt x="2069" y="1806821"/>
                    <a:pt x="0" y="1801826"/>
                    <a:pt x="0" y="179661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178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77510" y="2870869"/>
            <a:ext cx="5473796" cy="5771690"/>
          </a:xfrm>
          <a:custGeom>
            <a:avLst/>
            <a:gdLst/>
            <a:ahLst/>
            <a:cxnLst/>
            <a:rect r="r" b="b" t="t" l="l"/>
            <a:pathLst>
              <a:path h="5771690" w="5473796">
                <a:moveTo>
                  <a:pt x="0" y="0"/>
                </a:moveTo>
                <a:lnTo>
                  <a:pt x="5473797" y="0"/>
                </a:lnTo>
                <a:lnTo>
                  <a:pt x="5473797" y="5771690"/>
                </a:lnTo>
                <a:lnTo>
                  <a:pt x="0" y="5771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3062232"/>
            <a:ext cx="6254706" cy="152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1"/>
              </a:lnSpc>
              <a:spcBef>
                <a:spcPct val="0"/>
              </a:spcBef>
            </a:pPr>
            <a:r>
              <a:rPr lang="en-US" b="true" sz="5596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4939733"/>
            <a:ext cx="6586488" cy="405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61"/>
              </a:lnSpc>
            </a:pPr>
            <a:r>
              <a:rPr lang="en-US" sz="3077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CENTRALIZE B2B AUTOMOBILE PARTS SALES DATA INTO A UNIFIED ANALYTICS PLATFORM.</a:t>
            </a:r>
          </a:p>
          <a:p>
            <a:pPr algn="l" marL="0" indent="0" lvl="0">
              <a:lnSpc>
                <a:spcPts val="3261"/>
              </a:lnSpc>
            </a:pPr>
            <a:r>
              <a:rPr lang="en-US" sz="3077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ENABLE REAL-TIME INSIGHTS THROUGH INTERACTIVE DASHBOARDS AND KPI TRACKING.</a:t>
            </a:r>
          </a:p>
          <a:p>
            <a:pPr algn="l" marL="0" indent="0" lvl="0">
              <a:lnSpc>
                <a:spcPts val="3261"/>
              </a:lnSpc>
            </a:pPr>
            <a:r>
              <a:rPr lang="en-US" sz="3077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 STRATEGIC DECISION-MAKING WITH DATA-DRIVEN CUSTOMER AND SALES ANALYTICS.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35588" y="1027121"/>
            <a:ext cx="3465293" cy="6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B2B AUTO</a:t>
            </a:r>
          </a:p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ANALYTICS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359091" y="9533187"/>
            <a:ext cx="418610" cy="4186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26049" y="9533187"/>
            <a:ext cx="418610" cy="41861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93006" y="9533187"/>
            <a:ext cx="418610" cy="4186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84589" y="1643615"/>
            <a:ext cx="8489944" cy="6707056"/>
          </a:xfrm>
          <a:custGeom>
            <a:avLst/>
            <a:gdLst/>
            <a:ahLst/>
            <a:cxnLst/>
            <a:rect r="r" b="b" t="t" l="l"/>
            <a:pathLst>
              <a:path h="6707056" w="8489944">
                <a:moveTo>
                  <a:pt x="0" y="0"/>
                </a:moveTo>
                <a:lnTo>
                  <a:pt x="8489944" y="0"/>
                </a:lnTo>
                <a:lnTo>
                  <a:pt x="8489944" y="6707056"/>
                </a:lnTo>
                <a:lnTo>
                  <a:pt x="0" y="6707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1728732"/>
            <a:ext cx="6254706" cy="152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1"/>
              </a:lnSpc>
              <a:spcBef>
                <a:spcPct val="0"/>
              </a:spcBef>
            </a:pPr>
            <a:r>
              <a:rPr lang="en-US" b="true" sz="5596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CLEANING &amp; ETL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3596708"/>
            <a:ext cx="6586488" cy="393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1"/>
              </a:lnSpc>
            </a:pPr>
            <a:r>
              <a:rPr lang="en-US" sz="269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SOURCE EXTRACTION FROM MULTIPLE B2B SALES DATABASES, CRM SYSTEMS, AND INVENTORY RECORDS.</a:t>
            </a:r>
          </a:p>
          <a:p>
            <a:pPr algn="l" marL="0" indent="0" lvl="0">
              <a:lnSpc>
                <a:spcPts val="2861"/>
              </a:lnSpc>
            </a:pPr>
            <a:r>
              <a:rPr lang="en-US" sz="269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TRANSFORMATION RULES APPLIED: STANDARDIZING DATE FORMATS, NORMALIZING PRODUCT CODES, AND AGGREGATING REGIONAL DATA.</a:t>
            </a:r>
          </a:p>
          <a:p>
            <a:pPr algn="l" marL="0" indent="0" lvl="0">
              <a:lnSpc>
                <a:spcPts val="2861"/>
              </a:lnSpc>
            </a:pPr>
            <a:r>
              <a:rPr lang="en-US" sz="269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QUALITY CHECKS IMPLEMENTED: DUPLICATE REMOVAL, NULL VALUE HANDLING, AND DATA VALIDATION PROTOCOLS.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49189" y="1908488"/>
            <a:ext cx="6563627" cy="6740567"/>
          </a:xfrm>
          <a:custGeom>
            <a:avLst/>
            <a:gdLst/>
            <a:ahLst/>
            <a:cxnLst/>
            <a:rect r="r" b="b" t="t" l="l"/>
            <a:pathLst>
              <a:path h="6740567" w="6563627">
                <a:moveTo>
                  <a:pt x="0" y="0"/>
                </a:moveTo>
                <a:lnTo>
                  <a:pt x="6563627" y="0"/>
                </a:lnTo>
                <a:lnTo>
                  <a:pt x="6563627" y="6740567"/>
                </a:lnTo>
                <a:lnTo>
                  <a:pt x="0" y="6740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1728732"/>
            <a:ext cx="6254706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3606233"/>
            <a:ext cx="6586488" cy="373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0"/>
              </a:lnSpc>
            </a:pPr>
            <a:r>
              <a:rPr lang="en-US" sz="309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STAR SCHEMA ARCHITECTURE WITH CENTRALIZED FACT TABLE FOR SALES TRANSACTIONS.</a:t>
            </a:r>
          </a:p>
          <a:p>
            <a:pPr algn="l" marL="0" indent="0" lvl="0">
              <a:lnSpc>
                <a:spcPts val="3280"/>
              </a:lnSpc>
            </a:pPr>
            <a:r>
              <a:rPr lang="en-US" sz="309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DIMENSION TABLES: CUSTOMERS, PRODUCTS, EMPLOYEES, TIME, AND GEOGRAPHY.</a:t>
            </a:r>
          </a:p>
          <a:p>
            <a:pPr algn="l" marL="0" indent="0" lvl="0">
              <a:lnSpc>
                <a:spcPts val="3280"/>
              </a:lnSpc>
            </a:pPr>
            <a:r>
              <a:rPr lang="en-US" sz="309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RELATIONSHIPS ESTABLISHED VIA PRIMARY AND FOREIGN KEYS FOR OPTIMIZED QUERIES.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917606" y="2682378"/>
            <a:ext cx="4666285" cy="4565158"/>
          </a:xfrm>
          <a:custGeom>
            <a:avLst/>
            <a:gdLst/>
            <a:ahLst/>
            <a:cxnLst/>
            <a:rect r="r" b="b" t="t" l="l"/>
            <a:pathLst>
              <a:path h="4565158" w="4666285">
                <a:moveTo>
                  <a:pt x="0" y="0"/>
                </a:moveTo>
                <a:lnTo>
                  <a:pt x="4666284" y="0"/>
                </a:lnTo>
                <a:lnTo>
                  <a:pt x="4666284" y="4565158"/>
                </a:lnTo>
                <a:lnTo>
                  <a:pt x="0" y="4565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1681107"/>
            <a:ext cx="6254706" cy="41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  <a:spcBef>
                <a:spcPct val="0"/>
              </a:spcBef>
            </a:pPr>
            <a:r>
              <a:rPr lang="en-US" b="true" sz="292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KPI METRICS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7530" y="3756472"/>
            <a:ext cx="1531739" cy="102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1"/>
              </a:lnSpc>
              <a:spcBef>
                <a:spcPct val="0"/>
              </a:spcBef>
            </a:pPr>
            <a:r>
              <a:rPr lang="en-US" b="true" sz="3765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$2.4M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7530" y="5709393"/>
            <a:ext cx="1540818" cy="52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1"/>
              </a:lnSpc>
              <a:spcBef>
                <a:spcPct val="0"/>
              </a:spcBef>
            </a:pPr>
            <a:r>
              <a:rPr lang="en-US" b="true" sz="3765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1,847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5748" y="6376400"/>
            <a:ext cx="7234620" cy="226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2"/>
              </a:lnSpc>
            </a:pPr>
            <a:r>
              <a:rPr lang="en-US" sz="286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CHURN RATE: 12.3% - BELOW INDUSTRY AVERAGE, INDICATING STRONG CUSTOMER RETENTION.</a:t>
            </a:r>
          </a:p>
          <a:p>
            <a:pPr algn="l" marL="0" indent="0" lvl="0">
              <a:lnSpc>
                <a:spcPts val="3032"/>
              </a:lnSpc>
            </a:pPr>
            <a:r>
              <a:rPr lang="en-US" sz="286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AVERAGE ORDER VALUE: $1,298 - CONSISTENT B2B PURCHASING PATTERNS.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7530" y="4852883"/>
            <a:ext cx="7179262" cy="39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2"/>
              </a:lnSpc>
            </a:pPr>
            <a:r>
              <a:rPr lang="en-US" sz="286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CUSTOMER COUNT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7530" y="3419737"/>
            <a:ext cx="7179262" cy="39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2"/>
              </a:lnSpc>
            </a:pPr>
            <a:r>
              <a:rPr lang="en-US" sz="286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TOTAL REVENUE :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7530" y="1709682"/>
            <a:ext cx="5771406" cy="6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4394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SALES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530" y="3533570"/>
            <a:ext cx="6583710" cy="99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26"/>
              </a:lnSpc>
              <a:spcBef>
                <a:spcPct val="0"/>
              </a:spcBef>
            </a:pPr>
            <a:r>
              <a:rPr lang="en-US" b="true" sz="7194" u="sng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$4,250,000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5845801"/>
            <a:ext cx="7179262" cy="27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3"/>
              </a:lnSpc>
            </a:pPr>
            <a:r>
              <a:rPr lang="en-US" sz="3437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TOTAL REVENUE SHOWS STRONG QUARTERLY GROWTH WITH 23% INCREASE YOY.</a:t>
            </a:r>
          </a:p>
          <a:p>
            <a:pPr algn="l" marL="0" indent="0" lvl="0">
              <a:lnSpc>
                <a:spcPts val="3643"/>
              </a:lnSpc>
            </a:pPr>
            <a:r>
              <a:rPr lang="en-US" sz="3437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TOP REGIONS: NORTH AMERICA, EUROPE, AND ASIA PACIFIC DRIVING 78% OF TOTAL SALES.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21367" y="729263"/>
            <a:ext cx="8540129" cy="8919204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7530" y="1681107"/>
            <a:ext cx="5287863" cy="8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  <a:spcBef>
                <a:spcPct val="0"/>
              </a:spcBef>
            </a:pPr>
            <a:r>
              <a:rPr lang="en-US" b="true" sz="2928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CUSTOMER BEHAVIOUR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530" y="3499297"/>
            <a:ext cx="6533406" cy="102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91"/>
              </a:lnSpc>
              <a:spcBef>
                <a:spcPct val="0"/>
              </a:spcBef>
            </a:pPr>
            <a:r>
              <a:rPr lang="en-US" b="true" sz="3765" u="sng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2,847 ACTIVE CUSTOMERS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5851322"/>
            <a:ext cx="7179262" cy="27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6"/>
              </a:lnSpc>
            </a:pPr>
            <a:r>
              <a:rPr lang="en-US" sz="259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FREQUENT BUYERS: 423 CUSTOMERS WITH 5+ ORDERS ANNUALLY, CONTRIBUTING 67% OF TOTAL REVENUE.</a:t>
            </a:r>
          </a:p>
          <a:p>
            <a:pPr algn="l" marL="0" indent="0" lvl="0">
              <a:lnSpc>
                <a:spcPts val="2746"/>
              </a:lnSpc>
            </a:pPr>
            <a:r>
              <a:rPr lang="en-US" sz="259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CHURN RATE: 12.3% YEAR-OVER-YEAR, DOWN FROM 18.1% AFTER RETENTION INITIATIVES.</a:t>
            </a:r>
          </a:p>
          <a:p>
            <a:pPr algn="l" marL="0" indent="0" lvl="0">
              <a:lnSpc>
                <a:spcPts val="2746"/>
              </a:lnSpc>
            </a:pPr>
            <a:r>
              <a:rPr lang="en-US" sz="2591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AVG. PURCHASE FREQUENCY: 3.2 ORDERS PER QUARTER PER ACTIVE ACCOUNT.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21367" y="729263"/>
            <a:ext cx="8446173" cy="8919204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7530" y="1728732"/>
            <a:ext cx="6847480" cy="152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1"/>
              </a:lnSpc>
              <a:spcBef>
                <a:spcPct val="0"/>
              </a:spcBef>
            </a:pPr>
            <a:r>
              <a:rPr lang="en-US" b="true" sz="5596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EMPLOYEE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530" y="3609181"/>
            <a:ext cx="3932039" cy="199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253"/>
              </a:lnSpc>
              <a:spcBef>
                <a:spcPct val="0"/>
              </a:spcBef>
            </a:pPr>
            <a:r>
              <a:rPr lang="en-US" b="true" sz="14389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87%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6308296"/>
            <a:ext cx="7179262" cy="233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AVERAGE SALES TARGET ACHIEVEMENT ACROSS ALL REGIONS.</a:t>
            </a:r>
          </a:p>
          <a:p>
            <a:pPr algn="l" marL="0" indent="0" lvl="0">
              <a:lnSpc>
                <a:spcPts val="3646"/>
              </a:lnSpc>
            </a:pPr>
            <a:r>
              <a:rPr lang="en-US" sz="3439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TOP PERFORMERS EXCEED QUOTA BY 23% MONTHLY.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62355" y="1275336"/>
            <a:ext cx="8309928" cy="7630809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7530" y="1709682"/>
            <a:ext cx="6254706" cy="52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7"/>
              </a:lnSpc>
              <a:spcBef>
                <a:spcPct val="0"/>
              </a:spcBef>
            </a:pPr>
            <a:r>
              <a:rPr lang="en-US" b="true" sz="3837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INSIGHTS &amp;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530" y="4030975"/>
            <a:ext cx="5843141" cy="68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9"/>
              </a:lnSpc>
              <a:spcBef>
                <a:spcPct val="0"/>
              </a:spcBef>
            </a:pPr>
            <a:r>
              <a:rPr lang="en-US" b="true" sz="4933" u="sng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5 KEY ACCOUNTS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7530" y="5479070"/>
            <a:ext cx="5765304" cy="68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29"/>
              </a:lnSpc>
              <a:spcBef>
                <a:spcPct val="0"/>
              </a:spcBef>
            </a:pPr>
            <a:r>
              <a:rPr lang="en-US" b="true" sz="4933" u="sng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68% OF TOTAL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5748" y="6790084"/>
            <a:ext cx="7179262" cy="1853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8"/>
              </a:lnSpc>
            </a:pPr>
            <a:r>
              <a:rPr lang="en-US" sz="235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TOP 5 CUSTOMERS DRIVE 68% OF TOTAL REVENUE.</a:t>
            </a:r>
          </a:p>
          <a:p>
            <a:pPr algn="l" marL="0" indent="0" lvl="0">
              <a:lnSpc>
                <a:spcPts val="2498"/>
              </a:lnSpc>
            </a:pPr>
            <a:r>
              <a:rPr lang="en-US" sz="235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BRAKE SYSTEMS CONTRIBUTE HIGHEST PRODUCT MARGIN AT 34%.</a:t>
            </a:r>
          </a:p>
          <a:p>
            <a:pPr algn="l" marL="0" indent="0" lvl="0">
              <a:lnSpc>
                <a:spcPts val="2498"/>
              </a:lnSpc>
            </a:pPr>
            <a:r>
              <a:rPr lang="en-US" sz="235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NORTHEAST REGION UNDERPERFORMS BY 22% VS TARGET.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7530" y="4928521"/>
            <a:ext cx="7179262" cy="31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8"/>
              </a:lnSpc>
            </a:pPr>
            <a:r>
              <a:rPr lang="en-US" sz="235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REVENUE SHARE 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7530" y="3495376"/>
            <a:ext cx="7179262" cy="318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98"/>
              </a:lnSpc>
            </a:pPr>
            <a:r>
              <a:rPr lang="en-US" sz="2356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TOP CUSTOMERS :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88887" y="729263"/>
            <a:ext cx="8446173" cy="8919204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7883963" cy="8229600"/>
            <a:chOff x="0" y="0"/>
            <a:chExt cx="20764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641318" y="2601597"/>
            <a:ext cx="5544911" cy="5740009"/>
          </a:xfrm>
          <a:custGeom>
            <a:avLst/>
            <a:gdLst/>
            <a:ahLst/>
            <a:cxnLst/>
            <a:rect r="r" b="b" t="t" l="l"/>
            <a:pathLst>
              <a:path h="5740009" w="5544911">
                <a:moveTo>
                  <a:pt x="0" y="0"/>
                </a:moveTo>
                <a:lnTo>
                  <a:pt x="5544910" y="0"/>
                </a:lnTo>
                <a:lnTo>
                  <a:pt x="5544910" y="5740009"/>
                </a:lnTo>
                <a:lnTo>
                  <a:pt x="0" y="5740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1728732"/>
            <a:ext cx="8134624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7530" y="4093103"/>
            <a:ext cx="5852220" cy="78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8"/>
              </a:lnSpc>
              <a:spcBef>
                <a:spcPct val="0"/>
              </a:spcBef>
            </a:pPr>
            <a:r>
              <a:rPr lang="en-US" b="true" sz="5725" u="sng">
                <a:solidFill>
                  <a:srgbClr val="799F8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 KEY ACTIONS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5748" y="5947220"/>
            <a:ext cx="7179262" cy="269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3"/>
              </a:lnSpc>
            </a:pPr>
            <a:r>
              <a:rPr lang="en-US" sz="2068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FOCUS ON HIGH-VALUE CUSTOMERS: IMPLEMENT LOYALTY PROGRAMS AND PERSONALIZED ENGAGEMENT STRATEGIES FOR TOP 20% REVENUE CONTRIBUTORS.</a:t>
            </a:r>
          </a:p>
          <a:p>
            <a:pPr algn="l" marL="0" indent="0" lvl="0">
              <a:lnSpc>
                <a:spcPts val="2193"/>
              </a:lnSpc>
            </a:pPr>
            <a:r>
              <a:rPr lang="en-US" sz="2068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OPTIMIZE INVENTORY MANAGEMENT: USE DEMAND FORECASTING TO REDUCE STOCKOUTS AND MINIMIZE EXCESS INVENTORY COSTS.</a:t>
            </a:r>
          </a:p>
          <a:p>
            <a:pPr algn="l" marL="0" indent="0" lvl="0">
              <a:lnSpc>
                <a:spcPts val="2193"/>
              </a:lnSpc>
            </a:pPr>
            <a:r>
              <a:rPr lang="en-US" sz="2068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REDUCE CUSTOMER CHURN: DEPLOY EARLY WARNING SYSTEMS AND PROACTIVE RETENTION CAMPAIGNS FOR AT-RISK ACCOUNTS.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67738" y="9533187"/>
            <a:ext cx="418610" cy="41861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34695" y="9533187"/>
            <a:ext cx="418610" cy="4186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1652" y="9533187"/>
            <a:ext cx="418610" cy="4186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62200"/>
            <a:ext cx="7883963" cy="6896100"/>
            <a:chOff x="0" y="0"/>
            <a:chExt cx="2076435" cy="1816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35" cy="1816257"/>
            </a:xfrm>
            <a:custGeom>
              <a:avLst/>
              <a:gdLst/>
              <a:ahLst/>
              <a:cxnLst/>
              <a:rect r="r" b="b" t="t" l="l"/>
              <a:pathLst>
                <a:path h="181625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1796617"/>
                  </a:lnTo>
                  <a:cubicBezTo>
                    <a:pt x="2076435" y="1801826"/>
                    <a:pt x="2074365" y="1806821"/>
                    <a:pt x="2070682" y="1810504"/>
                  </a:cubicBezTo>
                  <a:cubicBezTo>
                    <a:pt x="2066999" y="1814188"/>
                    <a:pt x="2062004" y="1816257"/>
                    <a:pt x="2056795" y="1816257"/>
                  </a:cubicBezTo>
                  <a:lnTo>
                    <a:pt x="19640" y="1816257"/>
                  </a:lnTo>
                  <a:cubicBezTo>
                    <a:pt x="14431" y="1816257"/>
                    <a:pt x="9435" y="1814188"/>
                    <a:pt x="5752" y="1810504"/>
                  </a:cubicBezTo>
                  <a:cubicBezTo>
                    <a:pt x="2069" y="1806821"/>
                    <a:pt x="0" y="1801826"/>
                    <a:pt x="0" y="179661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76435" cy="178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5337" y="1028700"/>
            <a:ext cx="7883963" cy="8229600"/>
            <a:chOff x="0" y="0"/>
            <a:chExt cx="2076435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435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76435">
                  <a:moveTo>
                    <a:pt x="19640" y="0"/>
                  </a:moveTo>
                  <a:lnTo>
                    <a:pt x="2056795" y="0"/>
                  </a:lnTo>
                  <a:cubicBezTo>
                    <a:pt x="2062004" y="0"/>
                    <a:pt x="2066999" y="2069"/>
                    <a:pt x="2070682" y="5752"/>
                  </a:cubicBezTo>
                  <a:cubicBezTo>
                    <a:pt x="2074365" y="9435"/>
                    <a:pt x="2076435" y="14431"/>
                    <a:pt x="2076435" y="19640"/>
                  </a:cubicBezTo>
                  <a:lnTo>
                    <a:pt x="2076435" y="2147827"/>
                  </a:lnTo>
                  <a:cubicBezTo>
                    <a:pt x="2076435" y="2153036"/>
                    <a:pt x="2074365" y="2158031"/>
                    <a:pt x="2070682" y="2161714"/>
                  </a:cubicBezTo>
                  <a:cubicBezTo>
                    <a:pt x="2066999" y="2165397"/>
                    <a:pt x="2062004" y="2167467"/>
                    <a:pt x="2056795" y="2167467"/>
                  </a:cubicBezTo>
                  <a:lnTo>
                    <a:pt x="19640" y="2167467"/>
                  </a:lnTo>
                  <a:cubicBezTo>
                    <a:pt x="14431" y="2167467"/>
                    <a:pt x="9435" y="2165397"/>
                    <a:pt x="5752" y="2161714"/>
                  </a:cubicBezTo>
                  <a:cubicBezTo>
                    <a:pt x="2069" y="2158031"/>
                    <a:pt x="0" y="2153036"/>
                    <a:pt x="0" y="2147827"/>
                  </a:cubicBezTo>
                  <a:lnTo>
                    <a:pt x="0" y="19640"/>
                  </a:lnTo>
                  <a:cubicBezTo>
                    <a:pt x="0" y="14431"/>
                    <a:pt x="2069" y="9435"/>
                    <a:pt x="5752" y="5752"/>
                  </a:cubicBezTo>
                  <a:cubicBezTo>
                    <a:pt x="9435" y="2069"/>
                    <a:pt x="14431" y="0"/>
                    <a:pt x="196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76435" cy="2138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082139" y="2139640"/>
            <a:ext cx="5826328" cy="5951259"/>
          </a:xfrm>
          <a:custGeom>
            <a:avLst/>
            <a:gdLst/>
            <a:ahLst/>
            <a:cxnLst/>
            <a:rect r="r" b="b" t="t" l="l"/>
            <a:pathLst>
              <a:path h="5951259" w="5826328">
                <a:moveTo>
                  <a:pt x="0" y="0"/>
                </a:moveTo>
                <a:lnTo>
                  <a:pt x="5826328" y="0"/>
                </a:lnTo>
                <a:lnTo>
                  <a:pt x="5826328" y="5951259"/>
                </a:lnTo>
                <a:lnTo>
                  <a:pt x="0" y="5951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7530" y="3062232"/>
            <a:ext cx="6254706" cy="77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6"/>
              </a:lnSpc>
              <a:spcBef>
                <a:spcPct val="0"/>
              </a:spcBef>
            </a:pPr>
            <a:r>
              <a:rPr lang="en-US" b="true" sz="5600">
                <a:solidFill>
                  <a:srgbClr val="0E191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748" y="4930208"/>
            <a:ext cx="6586488" cy="386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</a:pPr>
            <a:r>
              <a:rPr lang="en-US" sz="291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DASHBOARD DELIVERS ACTIONABLE INSIGHTS DRIVING 15% EFFICIENCY GAINS IN SALES OPERATIONS.</a:t>
            </a:r>
          </a:p>
          <a:p>
            <a:pPr algn="l" marL="0" indent="0" lvl="0">
              <a:lnSpc>
                <a:spcPts val="3090"/>
              </a:lnSpc>
            </a:pPr>
            <a:r>
              <a:rPr lang="en-US" sz="291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NEXT STEPS INCLUDE REAL-TIME DATA INTEGRATION AND PREDICTIVE ANALYTICS EXPANSION.</a:t>
            </a:r>
          </a:p>
          <a:p>
            <a:pPr algn="l" marL="0" indent="0" lvl="0">
              <a:lnSpc>
                <a:spcPts val="3090"/>
              </a:lnSpc>
            </a:pPr>
            <a:r>
              <a:rPr lang="en-US" sz="2915">
                <a:solidFill>
                  <a:srgbClr val="0E1916"/>
                </a:solidFill>
                <a:latin typeface="TT Firs Neue"/>
                <a:ea typeface="TT Firs Neue"/>
                <a:cs typeface="TT Firs Neue"/>
                <a:sym typeface="TT Firs Neue"/>
              </a:rPr>
              <a:t>PHASED ADOPTION ROADMAP ENSURES SEAMLESS TRANSITION ACROSS ALL B2B SALES TEAMS.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8167" y="865411"/>
            <a:ext cx="672765" cy="1013755"/>
          </a:xfrm>
          <a:custGeom>
            <a:avLst/>
            <a:gdLst/>
            <a:ahLst/>
            <a:cxnLst/>
            <a:rect r="r" b="b" t="t" l="l"/>
            <a:pathLst>
              <a:path h="1013755" w="672765">
                <a:moveTo>
                  <a:pt x="0" y="0"/>
                </a:moveTo>
                <a:lnTo>
                  <a:pt x="672765" y="0"/>
                </a:lnTo>
                <a:lnTo>
                  <a:pt x="672765" y="1013755"/>
                </a:lnTo>
                <a:lnTo>
                  <a:pt x="0" y="1013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35588" y="1027121"/>
            <a:ext cx="3465293" cy="6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B2B ANALYTICS</a:t>
            </a:r>
          </a:p>
          <a:p>
            <a:pPr algn="just" marL="0" indent="0" lvl="0">
              <a:lnSpc>
                <a:spcPts val="2706"/>
              </a:lnSpc>
            </a:pPr>
            <a:r>
              <a:rPr lang="en-US" b="true" sz="2552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DASHBOARD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359091" y="9533187"/>
            <a:ext cx="418610" cy="4186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26049" y="9533187"/>
            <a:ext cx="418610" cy="41861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493006" y="9533187"/>
            <a:ext cx="418610" cy="4186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0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DAHJeemd-qA</dc:identifier>
  <dcterms:modified xsi:type="dcterms:W3CDTF">2011-08-01T06:04:30Z</dcterms:modified>
  <cp:revision>1</cp:revision>
  <dc:title>B2B Automobile Parts Sales &amp;</dc:title>
</cp:coreProperties>
</file>